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2" r:id="rId2"/>
    <p:sldId id="262" r:id="rId3"/>
    <p:sldId id="270" r:id="rId4"/>
    <p:sldId id="257" r:id="rId5"/>
    <p:sldId id="271" r:id="rId6"/>
    <p:sldId id="259" r:id="rId7"/>
    <p:sldId id="265" r:id="rId8"/>
    <p:sldId id="266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B00"/>
    <a:srgbClr val="1AA083"/>
    <a:srgbClr val="3A7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404" autoAdjust="0"/>
  </p:normalViewPr>
  <p:slideViewPr>
    <p:cSldViewPr snapToGrid="0" snapToObjects="1">
      <p:cViewPr>
        <p:scale>
          <a:sx n="67" d="100"/>
          <a:sy n="67" d="100"/>
        </p:scale>
        <p:origin x="6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50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EAC5-C047-1E3B-4106-EE4A7BD3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16F3A1-BF27-F97C-F4C0-6DCA14A42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84CDD-19F9-173A-E5F2-DA4DA19C2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D2E75-88AA-3FF3-B829-2AB5863EB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71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D1B33-342C-2031-CA60-D510221A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0E766-B277-6CB1-25A9-76329926C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BB092-76E4-A497-7106-79F41B387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A8769-94C0-96DC-4FC3-AB6866EE0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55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66A9-5DFF-5650-4388-6CCCA459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BCAC6-5AA5-B9DB-5A71-C3FC55C98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1F004-3906-DB9D-9998-344D975E2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ここでは実際の画面や操作方法を説明するためデモに移ります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03FF6-D933-251B-697F-5C2B38CBF6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54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この作品は</a:t>
            </a:r>
            <a:r>
              <a:rPr lang="en-US" altLang="ja-JP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lang="ja-JP" altLang="en-US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サイトとして制作したためアプリのインストールなどは不要でパソコンやスマホから</a:t>
            </a:r>
            <a:r>
              <a:rPr lang="en-US" altLang="ja-JP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URL</a:t>
            </a:r>
            <a:r>
              <a:rPr lang="ja-JP" altLang="en-US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、または</a:t>
            </a:r>
            <a:r>
              <a:rPr lang="en-US" altLang="ja-JP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QR</a:t>
            </a:r>
            <a:r>
              <a:rPr lang="ja-JP" altLang="en-US" sz="1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コードからアクセスできます。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FAD514-32B6-0BB0-CB48-3E9966AE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D5135DA2-6333-106D-40F1-4D8F86682755}"/>
              </a:ext>
            </a:extLst>
          </p:cNvPr>
          <p:cNvSpPr txBox="1">
            <a:spLocks/>
          </p:cNvSpPr>
          <p:nvPr/>
        </p:nvSpPr>
        <p:spPr>
          <a:xfrm>
            <a:off x="0" y="333558"/>
            <a:ext cx="9761621" cy="1097278"/>
          </a:xfrm>
          <a:prstGeom prst="rect">
            <a:avLst/>
          </a:prstGeom>
          <a:solidFill>
            <a:srgbClr val="FF7B00"/>
          </a:solidFill>
        </p:spPr>
        <p:txBody>
          <a:bodyPr vert="horz" lIns="91440" tIns="45720" rIns="91440" bIns="45720" numCol="1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4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個 人 製 作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8D3EDA70-54B1-B4CA-473D-EC3ADD061E85}"/>
              </a:ext>
            </a:extLst>
          </p:cNvPr>
          <p:cNvSpPr/>
          <p:nvPr/>
        </p:nvSpPr>
        <p:spPr>
          <a:xfrm flipV="1">
            <a:off x="9761621" y="333558"/>
            <a:ext cx="911352" cy="1097278"/>
          </a:xfrm>
          <a:prstGeom prst="rtTriangle">
            <a:avLst/>
          </a:prstGeom>
          <a:solidFill>
            <a:srgbClr val="FF7B00"/>
          </a:solidFill>
          <a:ln>
            <a:solidFill>
              <a:srgbClr val="FF7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字幕 2">
            <a:extLst>
              <a:ext uri="{FF2B5EF4-FFF2-40B4-BE49-F238E27FC236}">
                <a16:creationId xmlns:a16="http://schemas.microsoft.com/office/drawing/2014/main" id="{D0B52CD5-8C3C-5501-EA79-146944BC9C98}"/>
              </a:ext>
            </a:extLst>
          </p:cNvPr>
          <p:cNvSpPr txBox="1">
            <a:spLocks/>
          </p:cNvSpPr>
          <p:nvPr/>
        </p:nvSpPr>
        <p:spPr>
          <a:xfrm>
            <a:off x="0" y="5440481"/>
            <a:ext cx="7832237" cy="1097278"/>
          </a:xfrm>
          <a:prstGeom prst="rect">
            <a:avLst/>
          </a:prstGeom>
          <a:solidFill>
            <a:srgbClr val="FF7B00"/>
          </a:solidFill>
        </p:spPr>
        <p:txBody>
          <a:bodyPr vert="horz" lIns="91440" tIns="45720" rIns="91440" bIns="45720" numCol="1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3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 H 0 1 0 0 2                  </a:t>
            </a:r>
            <a:r>
              <a:rPr lang="ja-JP" altLang="en-US" sz="3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網 干 風 駕</a:t>
            </a: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53309D65-A8D4-AF8C-8FEA-9D9AB42F02E7}"/>
              </a:ext>
            </a:extLst>
          </p:cNvPr>
          <p:cNvSpPr/>
          <p:nvPr/>
        </p:nvSpPr>
        <p:spPr>
          <a:xfrm flipV="1">
            <a:off x="7832237" y="5440481"/>
            <a:ext cx="911352" cy="1097278"/>
          </a:xfrm>
          <a:prstGeom prst="rtTriangle">
            <a:avLst/>
          </a:prstGeom>
          <a:solidFill>
            <a:srgbClr val="FF7B00"/>
          </a:solidFill>
          <a:ln>
            <a:solidFill>
              <a:srgbClr val="FF7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AE78DB38-9714-6A02-3823-6C8ED8815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162" y="2517395"/>
            <a:ext cx="6118282" cy="1806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91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E6E683C8-D114-F278-2743-C268B51BE449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700822CF-9CCF-8F03-6D34-F92FD646FC81}"/>
              </a:ext>
            </a:extLst>
          </p:cNvPr>
          <p:cNvSpPr/>
          <p:nvPr/>
        </p:nvSpPr>
        <p:spPr>
          <a:xfrm>
            <a:off x="502920" y="416475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01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?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484BFE6B-9B97-F0AB-2644-2DF1BD44361A}"/>
              </a:ext>
            </a:extLst>
          </p:cNvPr>
          <p:cNvSpPr/>
          <p:nvPr/>
        </p:nvSpPr>
        <p:spPr>
          <a:xfrm>
            <a:off x="1435608" y="2368296"/>
            <a:ext cx="9317736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39AE033D-56DB-3BC1-1E4A-7C9620D040D2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05CBFDB-DA6E-0DA1-FC2C-15E5FE07CF15}"/>
              </a:ext>
            </a:extLst>
          </p:cNvPr>
          <p:cNvSpPr txBox="1"/>
          <p:nvPr/>
        </p:nvSpPr>
        <p:spPr>
          <a:xfrm>
            <a:off x="2523744" y="3035808"/>
            <a:ext cx="78364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自分の考えを形にしてみたい</a:t>
            </a:r>
            <a:endParaRPr kumimoji="1" lang="en-US" altLang="ja-JP" sz="4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4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3D</a:t>
            </a:r>
            <a:r>
              <a:rPr kumimoji="1" lang="ja-JP" altLang="en-US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空間に絵を描いてみたい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17C83-B22F-2BD4-B100-609F5C98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9B3EF0B0-6090-05C7-88ED-DCA6733C0261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CB5AEB1-B65B-E306-E3CD-019BC2C9A61D}"/>
              </a:ext>
            </a:extLst>
          </p:cNvPr>
          <p:cNvSpPr/>
          <p:nvPr/>
        </p:nvSpPr>
        <p:spPr>
          <a:xfrm>
            <a:off x="502920" y="416475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01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en-US" altLang="ja-JP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?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D92C92E-2EB4-B93D-F887-34C7E44338EA}"/>
              </a:ext>
            </a:extLst>
          </p:cNvPr>
          <p:cNvSpPr/>
          <p:nvPr/>
        </p:nvSpPr>
        <p:spPr>
          <a:xfrm>
            <a:off x="1435608" y="2368296"/>
            <a:ext cx="9317736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41A5012E-E827-3765-0C0A-E7F485E22524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CE5947B-1A28-C5E7-EDB6-A9CF6A94C4AA}"/>
              </a:ext>
            </a:extLst>
          </p:cNvPr>
          <p:cNvSpPr txBox="1"/>
          <p:nvPr/>
        </p:nvSpPr>
        <p:spPr>
          <a:xfrm>
            <a:off x="2578608" y="3035808"/>
            <a:ext cx="71871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操作が難しい</a:t>
            </a:r>
            <a:r>
              <a:rPr kumimoji="1" lang="en-US" altLang="ja-JP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</a:p>
          <a:p>
            <a:endParaRPr kumimoji="1" lang="en-US" altLang="ja-JP" sz="4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環境を用意するのが大変</a:t>
            </a:r>
            <a:r>
              <a:rPr kumimoji="1" lang="en-US" altLang="ja-JP" sz="4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1049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6B8D506E-FBA1-3EAA-EEAE-A784C5E434EC}"/>
              </a:ext>
            </a:extLst>
          </p:cNvPr>
          <p:cNvSpPr/>
          <p:nvPr/>
        </p:nvSpPr>
        <p:spPr>
          <a:xfrm>
            <a:off x="2292021" y="4187952"/>
            <a:ext cx="7328229" cy="215798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416475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02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altLang="en-US" sz="4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ア プ リ 説 明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050319" y="5049189"/>
            <a:ext cx="6569931" cy="62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2D</a:t>
            </a:r>
            <a:r>
              <a:rPr lang="ja-JP" altLang="en-US" sz="3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sz="3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3D</a:t>
            </a:r>
            <a:r>
              <a:rPr lang="ja-JP" altLang="en-US" sz="3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のお絵描き </a:t>
            </a:r>
            <a:r>
              <a:rPr lang="en-US" altLang="ja-JP" sz="3200" dirty="0">
                <a:solidFill>
                  <a:srgbClr val="24344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 app</a:t>
            </a:r>
            <a:endParaRPr lang="en-US" sz="3200" dirty="0">
              <a:solidFill>
                <a:srgbClr val="243447"/>
              </a:solidFill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F94357C-C8B7-23B0-FA1C-6DDE21B0D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862" y="2328290"/>
            <a:ext cx="4054221" cy="119736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3B9B8D7-9E53-7EFF-4DF7-8C97BDD52569}"/>
              </a:ext>
            </a:extLst>
          </p:cNvPr>
          <p:cNvSpPr txBox="1"/>
          <p:nvPr/>
        </p:nvSpPr>
        <p:spPr>
          <a:xfrm>
            <a:off x="375002" y="2558308"/>
            <a:ext cx="62536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その問題を解決するのが</a:t>
            </a:r>
            <a:r>
              <a:rPr kumimoji="1" lang="en-US" altLang="ja-JP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endParaRPr kumimoji="1" lang="ja-JP" altLang="en-US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71696FA-2408-CB82-4CC4-A62AB9E27BE6}"/>
              </a:ext>
            </a:extLst>
          </p:cNvPr>
          <p:cNvSpPr txBox="1"/>
          <p:nvPr/>
        </p:nvSpPr>
        <p:spPr>
          <a:xfrm>
            <a:off x="7284720" y="3380328"/>
            <a:ext cx="3313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>
                <a:solidFill>
                  <a:srgbClr val="FF7B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キャンバス キューブ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AF0D3-7BE3-D0B9-C618-92F888CA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4E73CB53-E205-CADA-FBCB-4EA0B00CDFCA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C6E9823A-F03C-79DD-C983-E02A0424D1FB}"/>
              </a:ext>
            </a:extLst>
          </p:cNvPr>
          <p:cNvSpPr/>
          <p:nvPr/>
        </p:nvSpPr>
        <p:spPr>
          <a:xfrm>
            <a:off x="502920" y="416475"/>
            <a:ext cx="10808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03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 作 し て み る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0E65BF3F-FCA2-BB2B-D7C1-65D95B975C18}"/>
              </a:ext>
            </a:extLst>
          </p:cNvPr>
          <p:cNvSpPr/>
          <p:nvPr/>
        </p:nvSpPr>
        <p:spPr>
          <a:xfrm>
            <a:off x="1435608" y="2368296"/>
            <a:ext cx="9317736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F46F7F8E-F702-C17F-34E9-71B55924275A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6C94CC4-905A-A7E4-6E48-0EAF4233D642}"/>
              </a:ext>
            </a:extLst>
          </p:cNvPr>
          <p:cNvSpPr txBox="1"/>
          <p:nvPr/>
        </p:nvSpPr>
        <p:spPr>
          <a:xfrm>
            <a:off x="3821430" y="3264408"/>
            <a:ext cx="4589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600" b="1" dirty="0"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D E M O</a:t>
            </a:r>
          </a:p>
        </p:txBody>
      </p:sp>
    </p:spTree>
    <p:extLst>
      <p:ext uri="{BB962C8B-B14F-4D97-AF65-F5344CB8AC3E}">
        <p14:creationId xmlns:p14="http://schemas.microsoft.com/office/powerpoint/2010/main" val="404551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83EC96FF-AEA9-3B16-A90E-701894B3562D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2411DE8C-95E3-3D22-5471-4F4A87672E5D}"/>
              </a:ext>
            </a:extLst>
          </p:cNvPr>
          <p:cNvSpPr/>
          <p:nvPr/>
        </p:nvSpPr>
        <p:spPr>
          <a:xfrm>
            <a:off x="502920" y="416475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04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altLang="en-US" sz="4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導 入 ・ 起 動 環 境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B34E70C-D1F2-F679-6829-7975D5BFCEEC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0EBC0A6A-73CF-C544-9FE7-16B6C9C34558}"/>
              </a:ext>
            </a:extLst>
          </p:cNvPr>
          <p:cNvSpPr/>
          <p:nvPr/>
        </p:nvSpPr>
        <p:spPr>
          <a:xfrm>
            <a:off x="502919" y="198798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ctr"/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インストール不要</a:t>
            </a: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F97B3B3E-7861-885B-F8DF-A7E7FCE8DFFD}"/>
              </a:ext>
            </a:extLst>
          </p:cNvPr>
          <p:cNvSpPr/>
          <p:nvPr/>
        </p:nvSpPr>
        <p:spPr>
          <a:xfrm>
            <a:off x="502920" y="372153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ctr"/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アカウント不要</a:t>
            </a: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E9BEC277-692F-3261-CEDA-9036B71E0AAE}"/>
              </a:ext>
            </a:extLst>
          </p:cNvPr>
          <p:cNvSpPr/>
          <p:nvPr/>
        </p:nvSpPr>
        <p:spPr>
          <a:xfrm>
            <a:off x="6541769" y="200703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r"/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ブラウザで利用可能</a:t>
            </a: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691E669F-D12A-DD9C-21D7-90C0375C393D}"/>
              </a:ext>
            </a:extLst>
          </p:cNvPr>
          <p:cNvSpPr/>
          <p:nvPr/>
        </p:nvSpPr>
        <p:spPr>
          <a:xfrm>
            <a:off x="6541770" y="374058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ctr"/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＼ 無 料 ／</a:t>
            </a:r>
          </a:p>
        </p:txBody>
      </p:sp>
      <p:pic>
        <p:nvPicPr>
          <p:cNvPr id="26" name="図 25" descr="緑のチェックマークのイラスト無料">
            <a:extLst>
              <a:ext uri="{FF2B5EF4-FFF2-40B4-BE49-F238E27FC236}">
                <a16:creationId xmlns:a16="http://schemas.microsoft.com/office/drawing/2014/main" id="{6077300C-1F5E-8334-8542-785C2CF6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" y="2128837"/>
            <a:ext cx="881063" cy="881063"/>
          </a:xfrm>
          <a:prstGeom prst="rect">
            <a:avLst/>
          </a:prstGeom>
        </p:spPr>
      </p:pic>
      <p:pic>
        <p:nvPicPr>
          <p:cNvPr id="28" name="図 27" descr="緑のチェックマークのイラスト無料">
            <a:extLst>
              <a:ext uri="{FF2B5EF4-FFF2-40B4-BE49-F238E27FC236}">
                <a16:creationId xmlns:a16="http://schemas.microsoft.com/office/drawing/2014/main" id="{899E58B5-699A-53E3-5671-E9B6535E1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2" y="3900487"/>
            <a:ext cx="881063" cy="881063"/>
          </a:xfrm>
          <a:prstGeom prst="rect">
            <a:avLst/>
          </a:prstGeom>
        </p:spPr>
      </p:pic>
      <p:pic>
        <p:nvPicPr>
          <p:cNvPr id="30" name="図 29" descr="緑のチェックマークのイラスト無料">
            <a:extLst>
              <a:ext uri="{FF2B5EF4-FFF2-40B4-BE49-F238E27FC236}">
                <a16:creationId xmlns:a16="http://schemas.microsoft.com/office/drawing/2014/main" id="{629536AD-17FC-038F-A6AF-5F4C09E28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887" y="3900487"/>
            <a:ext cx="881063" cy="881063"/>
          </a:xfrm>
          <a:prstGeom prst="rect">
            <a:avLst/>
          </a:prstGeom>
        </p:spPr>
      </p:pic>
      <p:pic>
        <p:nvPicPr>
          <p:cNvPr id="32" name="図 31" descr="緑のチェックマークのイラスト無料">
            <a:extLst>
              <a:ext uri="{FF2B5EF4-FFF2-40B4-BE49-F238E27FC236}">
                <a16:creationId xmlns:a16="http://schemas.microsoft.com/office/drawing/2014/main" id="{A4F8B316-76DD-949C-EFF4-D5325492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887" y="2128837"/>
            <a:ext cx="881063" cy="881063"/>
          </a:xfrm>
          <a:prstGeom prst="rect">
            <a:avLst/>
          </a:prstGeom>
        </p:spPr>
      </p:pic>
      <p:sp>
        <p:nvSpPr>
          <p:cNvPr id="34" name="Shape 4">
            <a:extLst>
              <a:ext uri="{FF2B5EF4-FFF2-40B4-BE49-F238E27FC236}">
                <a16:creationId xmlns:a16="http://schemas.microsoft.com/office/drawing/2014/main" id="{45D2EFF0-8F0C-BCB8-4AB3-A668D6BE872E}"/>
              </a:ext>
            </a:extLst>
          </p:cNvPr>
          <p:cNvSpPr/>
          <p:nvPr/>
        </p:nvSpPr>
        <p:spPr>
          <a:xfrm>
            <a:off x="512445" y="545508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ctr"/>
            <a:r>
              <a:rPr lang="en-US" altLang="ja-JP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Windows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対応</a:t>
            </a:r>
          </a:p>
        </p:txBody>
      </p:sp>
      <p:pic>
        <p:nvPicPr>
          <p:cNvPr id="36" name="図 35" descr="緑のチェックマークのイラスト無料">
            <a:extLst>
              <a:ext uri="{FF2B5EF4-FFF2-40B4-BE49-F238E27FC236}">
                <a16:creationId xmlns:a16="http://schemas.microsoft.com/office/drawing/2014/main" id="{090886A4-3038-D5C3-F696-0FE6A750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5634037"/>
            <a:ext cx="881063" cy="881063"/>
          </a:xfrm>
          <a:prstGeom prst="rect">
            <a:avLst/>
          </a:prstGeom>
        </p:spPr>
      </p:pic>
      <p:sp>
        <p:nvSpPr>
          <p:cNvPr id="38" name="Shape 4">
            <a:extLst>
              <a:ext uri="{FF2B5EF4-FFF2-40B4-BE49-F238E27FC236}">
                <a16:creationId xmlns:a16="http://schemas.microsoft.com/office/drawing/2014/main" id="{B90AE0F8-614F-AB56-1ABE-A0D7FCE2618D}"/>
              </a:ext>
            </a:extLst>
          </p:cNvPr>
          <p:cNvSpPr/>
          <p:nvPr/>
        </p:nvSpPr>
        <p:spPr>
          <a:xfrm>
            <a:off x="6541769" y="5455081"/>
            <a:ext cx="5088255" cy="114574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 anchor="ctr"/>
          <a:lstStyle/>
          <a:p>
            <a:pPr algn="r"/>
            <a:r>
              <a:rPr lang="en-US" altLang="ja-JP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URL</a:t>
            </a:r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からすぐ起動</a:t>
            </a:r>
          </a:p>
        </p:txBody>
      </p:sp>
      <p:pic>
        <p:nvPicPr>
          <p:cNvPr id="40" name="図 39" descr="緑のチェックマークのイラスト無料">
            <a:extLst>
              <a:ext uri="{FF2B5EF4-FFF2-40B4-BE49-F238E27FC236}">
                <a16:creationId xmlns:a16="http://schemas.microsoft.com/office/drawing/2014/main" id="{B11522DB-27EC-1107-3386-5FD86DBC3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211" y="5634037"/>
            <a:ext cx="881063" cy="881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FC2D28B6-2B49-9A66-7C01-A14646BA0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717" y="1415054"/>
            <a:ext cx="7265040" cy="4086585"/>
          </a:xfrm>
          <a:prstGeom prst="rect">
            <a:avLst/>
          </a:prstGeom>
        </p:spPr>
      </p:pic>
      <p:sp>
        <p:nvSpPr>
          <p:cNvPr id="26" name="Shape 0">
            <a:extLst>
              <a:ext uri="{FF2B5EF4-FFF2-40B4-BE49-F238E27FC236}">
                <a16:creationId xmlns:a16="http://schemas.microsoft.com/office/drawing/2014/main" id="{DE2B2F65-E5C9-67F1-8675-147C487B26AD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FF7B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0E736429-7C8A-77E5-9FA7-79157963F980}"/>
              </a:ext>
            </a:extLst>
          </p:cNvPr>
          <p:cNvSpPr/>
          <p:nvPr/>
        </p:nvSpPr>
        <p:spPr>
          <a:xfrm>
            <a:off x="502919" y="416475"/>
            <a:ext cx="10193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05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altLang="en-US" sz="4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開 発 環 境 ・ 開 発 技 術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B2FA4E09-06F3-79CD-BDD9-3ADD09D5E204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D555154-07EC-2F04-30A1-23A65B632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5047489"/>
            <a:ext cx="1617949" cy="161794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36462249-29E5-E14C-C323-3EC277DDB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946" y="5033184"/>
            <a:ext cx="1203320" cy="169908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B363F23-40EF-8373-A266-9F4F6994D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6643" y="5047489"/>
            <a:ext cx="1590900" cy="168668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81640E1D-B388-1D52-F5FB-9B5D2A94E5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766" y="2338578"/>
            <a:ext cx="2635915" cy="2285919"/>
          </a:xfrm>
          <a:prstGeom prst="rect">
            <a:avLst/>
          </a:prstGeom>
        </p:spPr>
      </p:pic>
      <p:sp>
        <p:nvSpPr>
          <p:cNvPr id="22" name="Text 15">
            <a:extLst>
              <a:ext uri="{FF2B5EF4-FFF2-40B4-BE49-F238E27FC236}">
                <a16:creationId xmlns:a16="http://schemas.microsoft.com/office/drawing/2014/main" id="{AD0B22A7-27F9-8BEA-D41B-7288DEBB9FA8}"/>
              </a:ext>
            </a:extLst>
          </p:cNvPr>
          <p:cNvSpPr/>
          <p:nvPr/>
        </p:nvSpPr>
        <p:spPr>
          <a:xfrm>
            <a:off x="1195293" y="1686215"/>
            <a:ext cx="1818240" cy="70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43447"/>
                </a:solidFill>
                <a:latin typeface="Gill Sans Nova Ultra Bold" panose="020F0502020204030204" pitchFamily="34" charset="0"/>
              </a:rPr>
              <a:t>REACT</a:t>
            </a:r>
          </a:p>
        </p:txBody>
      </p:sp>
      <p:pic>
        <p:nvPicPr>
          <p:cNvPr id="2" name="図 1" descr="React Three Fiber Portfolio Animations – Part 1 | Coder Conversations">
            <a:extLst>
              <a:ext uri="{FF2B5EF4-FFF2-40B4-BE49-F238E27FC236}">
                <a16:creationId xmlns:a16="http://schemas.microsoft.com/office/drawing/2014/main" id="{C8BA3DAF-4709-77D6-954C-C5BB04D6AA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2891" y="2338578"/>
            <a:ext cx="2635915" cy="2314575"/>
          </a:xfrm>
          <a:prstGeom prst="rect">
            <a:avLst/>
          </a:prstGeom>
        </p:spPr>
      </p:pic>
      <p:sp>
        <p:nvSpPr>
          <p:cNvPr id="4" name="Text 15">
            <a:extLst>
              <a:ext uri="{FF2B5EF4-FFF2-40B4-BE49-F238E27FC236}">
                <a16:creationId xmlns:a16="http://schemas.microsoft.com/office/drawing/2014/main" id="{1950DBDC-115B-8C45-C5A0-D31E0F160449}"/>
              </a:ext>
            </a:extLst>
          </p:cNvPr>
          <p:cNvSpPr/>
          <p:nvPr/>
        </p:nvSpPr>
        <p:spPr>
          <a:xfrm>
            <a:off x="5005293" y="1664780"/>
            <a:ext cx="2157650" cy="70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43447"/>
                </a:solidFill>
                <a:latin typeface="Gill Sans Nova Ultra Bold" panose="020F0502020204030204" pitchFamily="34" charset="0"/>
              </a:rPr>
              <a:t>Three.js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CDBF7098-AC0E-425D-1DB2-0B8474FFFB3A}"/>
              </a:ext>
            </a:extLst>
          </p:cNvPr>
          <p:cNvSpPr/>
          <p:nvPr/>
        </p:nvSpPr>
        <p:spPr>
          <a:xfrm>
            <a:off x="9215200" y="1637066"/>
            <a:ext cx="1167050" cy="701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243447"/>
                </a:solidFill>
                <a:latin typeface="Gill Sans Nova Ultra Bold" panose="020F0502020204030204" pitchFamily="34" charset="0"/>
              </a:rPr>
              <a:t>R3F</a:t>
            </a:r>
          </a:p>
        </p:txBody>
      </p:sp>
      <p:pic>
        <p:nvPicPr>
          <p:cNvPr id="19" name="図 18" descr="ファイル:Windows 11 logo.svg - Wikipedia">
            <a:extLst>
              <a:ext uri="{FF2B5EF4-FFF2-40B4-BE49-F238E27FC236}">
                <a16:creationId xmlns:a16="http://schemas.microsoft.com/office/drawing/2014/main" id="{331980DC-7451-CBC7-3570-F5615E4788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4800" y="6025603"/>
            <a:ext cx="3843100" cy="70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709C68B2-BCC9-DD0D-035E-1DD9C73541AD}"/>
              </a:ext>
            </a:extLst>
          </p:cNvPr>
          <p:cNvSpPr/>
          <p:nvPr/>
        </p:nvSpPr>
        <p:spPr>
          <a:xfrm>
            <a:off x="0" y="-1"/>
            <a:ext cx="12191695" cy="1417321"/>
          </a:xfrm>
          <a:prstGeom prst="rect">
            <a:avLst/>
          </a:prstGeom>
          <a:solidFill>
            <a:srgbClr val="FF7B00"/>
          </a:solidFill>
          <a:ln w="12700">
            <a:solidFill>
              <a:srgbClr val="3A7D4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A920E66C-3D21-AFCC-7B0D-983CA8BD0E8B}"/>
              </a:ext>
            </a:extLst>
          </p:cNvPr>
          <p:cNvSpPr/>
          <p:nvPr/>
        </p:nvSpPr>
        <p:spPr>
          <a:xfrm>
            <a:off x="502920" y="416475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06</a:t>
            </a:r>
            <a:r>
              <a:rPr lang="en-US" sz="44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.</a:t>
            </a:r>
            <a:r>
              <a:rPr lang="en-US" sz="4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</a:t>
            </a:r>
            <a:r>
              <a:rPr lang="ja-JP" altLang="en-US" sz="4800" b="1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Yu Gothic" pitchFamily="34" charset="-120"/>
              </a:rPr>
              <a:t>ま と め</a:t>
            </a:r>
            <a:endParaRPr lang="en-US" sz="48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E3D9B1E-B57E-330C-EE11-D288F84EE595}"/>
              </a:ext>
            </a:extLst>
          </p:cNvPr>
          <p:cNvSpPr/>
          <p:nvPr/>
        </p:nvSpPr>
        <p:spPr>
          <a:xfrm>
            <a:off x="502920" y="1269287"/>
            <a:ext cx="1115568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D946EA7-5370-CFA3-EFDE-8479B0FC3765}"/>
              </a:ext>
            </a:extLst>
          </p:cNvPr>
          <p:cNvSpPr txBox="1"/>
          <p:nvPr/>
        </p:nvSpPr>
        <p:spPr>
          <a:xfrm>
            <a:off x="345948" y="2749997"/>
            <a:ext cx="51499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</a:t>
            </a:r>
            <a:r>
              <a:rPr kumimoji="1" lang="en-US" altLang="ja-JP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UI/UX</a:t>
            </a:r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で工夫</a:t>
            </a:r>
            <a:endParaRPr kumimoji="1" lang="en-US" altLang="ja-JP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4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 利用のしやすさ</a:t>
            </a:r>
            <a:endParaRPr kumimoji="1" lang="en-US" altLang="ja-JP" sz="4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4EFE644-B2C9-78F7-BC01-F5A3D1BC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837" y="2400300"/>
            <a:ext cx="6634163" cy="339252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FE8A5F-D6D8-FE97-0111-74AC16BDF7FA}"/>
              </a:ext>
            </a:extLst>
          </p:cNvPr>
          <p:cNvSpPr txBox="1"/>
          <p:nvPr/>
        </p:nvSpPr>
        <p:spPr>
          <a:xfrm>
            <a:off x="7108698" y="6055172"/>
            <a:ext cx="3035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↑ 実際の画面 ↑</a:t>
            </a:r>
            <a:endParaRPr kumimoji="1" lang="en-US" altLang="ja-JP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4">
            <a:extLst>
              <a:ext uri="{FF2B5EF4-FFF2-40B4-BE49-F238E27FC236}">
                <a16:creationId xmlns:a16="http://schemas.microsoft.com/office/drawing/2014/main" id="{523AEA90-477F-DBA8-7669-7E7C13B60F6B}"/>
              </a:ext>
            </a:extLst>
          </p:cNvPr>
          <p:cNvSpPr/>
          <p:nvPr/>
        </p:nvSpPr>
        <p:spPr>
          <a:xfrm>
            <a:off x="6622563" y="1963275"/>
            <a:ext cx="3425951" cy="293257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blurRad="12700" dist="508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5" name="字幕 2">
            <a:extLst>
              <a:ext uri="{FF2B5EF4-FFF2-40B4-BE49-F238E27FC236}">
                <a16:creationId xmlns:a16="http://schemas.microsoft.com/office/drawing/2014/main" id="{5F9578F6-F5B9-B449-A313-BF6DC021CC1D}"/>
              </a:ext>
            </a:extLst>
          </p:cNvPr>
          <p:cNvSpPr txBox="1">
            <a:spLocks/>
          </p:cNvSpPr>
          <p:nvPr/>
        </p:nvSpPr>
        <p:spPr>
          <a:xfrm>
            <a:off x="0" y="333558"/>
            <a:ext cx="9761621" cy="1097278"/>
          </a:xfrm>
          <a:prstGeom prst="rect">
            <a:avLst/>
          </a:prstGeom>
          <a:solidFill>
            <a:srgbClr val="FF7B00"/>
          </a:solidFill>
        </p:spPr>
        <p:txBody>
          <a:bodyPr vert="horz" lIns="91440" tIns="45720" rIns="91440" bIns="45720" numCol="1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48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ご清聴ありがとうございました</a:t>
            </a:r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C457CBA4-35CC-0E47-7A07-C0C4BC6A38E5}"/>
              </a:ext>
            </a:extLst>
          </p:cNvPr>
          <p:cNvSpPr/>
          <p:nvPr/>
        </p:nvSpPr>
        <p:spPr>
          <a:xfrm flipV="1">
            <a:off x="9761621" y="333558"/>
            <a:ext cx="911352" cy="1097278"/>
          </a:xfrm>
          <a:prstGeom prst="rtTriangle">
            <a:avLst/>
          </a:prstGeom>
          <a:solidFill>
            <a:srgbClr val="FF7B00"/>
          </a:solidFill>
          <a:ln>
            <a:solidFill>
              <a:srgbClr val="FF7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E84A4B3D-A622-C919-C850-CE3C6FA34891}"/>
              </a:ext>
            </a:extLst>
          </p:cNvPr>
          <p:cNvSpPr txBox="1">
            <a:spLocks/>
          </p:cNvSpPr>
          <p:nvPr/>
        </p:nvSpPr>
        <p:spPr>
          <a:xfrm>
            <a:off x="0" y="5440481"/>
            <a:ext cx="7832237" cy="1097278"/>
          </a:xfrm>
          <a:prstGeom prst="rect">
            <a:avLst/>
          </a:prstGeom>
          <a:solidFill>
            <a:srgbClr val="FF7B00"/>
          </a:solidFill>
        </p:spPr>
        <p:txBody>
          <a:bodyPr vert="horz" lIns="91440" tIns="45720" rIns="91440" bIns="45720" numCol="1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3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 H 0 1 0 0 2                  </a:t>
            </a:r>
            <a:r>
              <a:rPr lang="ja-JP" altLang="en-US" sz="3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網 干 風 駕</a:t>
            </a:r>
          </a:p>
        </p:txBody>
      </p:sp>
      <p:sp>
        <p:nvSpPr>
          <p:cNvPr id="13" name="直角三角形 12">
            <a:extLst>
              <a:ext uri="{FF2B5EF4-FFF2-40B4-BE49-F238E27FC236}">
                <a16:creationId xmlns:a16="http://schemas.microsoft.com/office/drawing/2014/main" id="{43FAA351-7CE7-6084-BA48-5B933E4C0CA9}"/>
              </a:ext>
            </a:extLst>
          </p:cNvPr>
          <p:cNvSpPr/>
          <p:nvPr/>
        </p:nvSpPr>
        <p:spPr>
          <a:xfrm flipV="1">
            <a:off x="7832237" y="5440481"/>
            <a:ext cx="911352" cy="1097278"/>
          </a:xfrm>
          <a:prstGeom prst="rtTriangle">
            <a:avLst/>
          </a:prstGeom>
          <a:solidFill>
            <a:srgbClr val="FF7B00"/>
          </a:solidFill>
          <a:ln>
            <a:solidFill>
              <a:srgbClr val="FF7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7157FF2C-0F9A-128C-980F-EF5588220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39" y="1981200"/>
            <a:ext cx="2914650" cy="2914650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357A08C0-F8E8-2382-75C5-10D4953FA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912" y="2926970"/>
            <a:ext cx="4054221" cy="11973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1739</TotalTime>
  <Words>234</Words>
  <Application>Microsoft Office PowerPoint</Application>
  <PresentationFormat>ワイド画面</PresentationFormat>
  <Paragraphs>45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BIZ UDPゴシック</vt:lpstr>
      <vt:lpstr>HGS創英角ﾎﾟｯﾌﾟ体</vt:lpstr>
      <vt:lpstr>Yu Gothic</vt:lpstr>
      <vt:lpstr>Arial</vt:lpstr>
      <vt:lpstr>Gill Sans Nova Ultra Bold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高砂市紹介ホームページ 成果物紹介</dc:title>
  <dc:subject>高砂市紹介ホームページ 成果物紹介スライド</dc:subject>
  <dc:creator>OpenAI</dc:creator>
  <cp:lastModifiedBy>風駕 網干</cp:lastModifiedBy>
  <cp:revision>13</cp:revision>
  <dcterms:created xsi:type="dcterms:W3CDTF">2026-05-31T09:09:27Z</dcterms:created>
  <dcterms:modified xsi:type="dcterms:W3CDTF">2026-07-06T15:44:31Z</dcterms:modified>
</cp:coreProperties>
</file>